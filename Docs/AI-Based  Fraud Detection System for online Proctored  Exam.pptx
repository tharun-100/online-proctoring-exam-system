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3" r:id="rId10"/>
    <p:sldId id="271" r:id="rId11"/>
    <p:sldId id="268" r:id="rId12"/>
    <p:sldId id="269" r:id="rId13"/>
    <p:sldId id="270" r:id="rId14"/>
    <p:sldId id="272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23" autoAdjust="0"/>
  </p:normalViewPr>
  <p:slideViewPr>
    <p:cSldViewPr snapToGrid="0">
      <p:cViewPr varScale="1">
        <p:scale>
          <a:sx n="51" d="100"/>
          <a:sy n="51" d="100"/>
        </p:scale>
        <p:origin x="12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532A2-B8BF-4F8F-B8F2-62443B7C271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D4DF2-57FA-4342-A2EF-3876083C3C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8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45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83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19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32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963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D4DF2-57FA-4342-A2EF-3876083C3CA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348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22BA-9912-A53D-96D3-E0F1BA951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AI-Based  Fraud Detection System for online Proctored  Exam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38D2B-D345-95D5-85E8-F64D66C8F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15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BBBB-C61C-CE55-7724-5D500EC8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56D5-8519-A4BC-7977-F5413B962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Introduction &amp; Problem Statement</a:t>
            </a:r>
            <a:endParaRPr lang="en-IN" dirty="0"/>
          </a:p>
          <a:p>
            <a:r>
              <a:rPr lang="en-IN" b="1" dirty="0"/>
              <a:t>Objectives of the System</a:t>
            </a:r>
            <a:endParaRPr lang="en-IN" dirty="0"/>
          </a:p>
          <a:p>
            <a:r>
              <a:rPr lang="en-IN" b="1" dirty="0"/>
              <a:t>Scope &amp; Assumptions</a:t>
            </a:r>
            <a:endParaRPr lang="en-IN" dirty="0"/>
          </a:p>
          <a:p>
            <a:r>
              <a:rPr lang="en-IN" b="1" dirty="0"/>
              <a:t>Proposed Solution Overview</a:t>
            </a:r>
            <a:endParaRPr lang="en-IN" dirty="0"/>
          </a:p>
          <a:p>
            <a:r>
              <a:rPr lang="en-IN" b="1" dirty="0"/>
              <a:t>System Architecture</a:t>
            </a:r>
            <a:endParaRPr lang="en-IN" dirty="0"/>
          </a:p>
          <a:p>
            <a:r>
              <a:rPr lang="en-IN" b="1" dirty="0"/>
              <a:t>Data Collection &amp; Dataset Description</a:t>
            </a:r>
            <a:endParaRPr lang="en-IN" dirty="0"/>
          </a:p>
          <a:p>
            <a:r>
              <a:rPr lang="en-IN" b="1" dirty="0"/>
              <a:t>Cheating Detection Models	</a:t>
            </a:r>
            <a:endParaRPr lang="en-IN" dirty="0"/>
          </a:p>
          <a:p>
            <a:r>
              <a:rPr lang="en-IN" b="1" dirty="0"/>
              <a:t>Tentative Project Timeline</a:t>
            </a:r>
            <a:endParaRPr lang="en-IN" dirty="0"/>
          </a:p>
          <a:p>
            <a:r>
              <a:rPr lang="en-IN" b="1" dirty="0"/>
              <a:t>Potential Bottlenecks, Challenges &amp; System Limitations</a:t>
            </a:r>
            <a:endParaRPr lang="en-IN" dirty="0"/>
          </a:p>
          <a:p>
            <a:r>
              <a:rPr lang="en-IN" b="1" dirty="0"/>
              <a:t>Conclusion &amp; Future 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26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EC8A-3A51-5EEB-9B66-F214EEE1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82201"/>
          </a:xfrm>
        </p:spPr>
        <p:txBody>
          <a:bodyPr/>
          <a:lstStyle/>
          <a:p>
            <a:r>
              <a:rPr lang="en-US" dirty="0"/>
              <a:t>Introduction and problem statement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3D2263-BE41-AAEA-30E8-C0D20C5BAA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930579"/>
            <a:ext cx="669777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of online exams and remote assessments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of human proctoring (costly, non-scalable, biased)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cheating behaviors: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Looking away from screen repeatedly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faces in frame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eye movement patterns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Detected Mobile</a:t>
            </a:r>
          </a:p>
        </p:txBody>
      </p:sp>
      <p:pic>
        <p:nvPicPr>
          <p:cNvPr id="1027" name="Picture 3" descr="School-level exam cheating back to pre ...">
            <a:extLst>
              <a:ext uri="{FF2B5EF4-FFF2-40B4-BE49-F238E27FC236}">
                <a16:creationId xmlns:a16="http://schemas.microsoft.com/office/drawing/2014/main" id="{3C647DD8-B6CC-2C01-6FB1-CA1A4C3C3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677" y="1686054"/>
            <a:ext cx="2952750" cy="168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6 ways students cheat online ...">
            <a:extLst>
              <a:ext uri="{FF2B5EF4-FFF2-40B4-BE49-F238E27FC236}">
                <a16:creationId xmlns:a16="http://schemas.microsoft.com/office/drawing/2014/main" id="{649A7C9D-04C7-99AD-15DB-2C0D2B6DC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677" y="3484201"/>
            <a:ext cx="2952750" cy="185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How Cheating in College Hurts Students">
            <a:extLst>
              <a:ext uri="{FF2B5EF4-FFF2-40B4-BE49-F238E27FC236}">
                <a16:creationId xmlns:a16="http://schemas.microsoft.com/office/drawing/2014/main" id="{E44383AB-FDC7-4F1E-FD24-D935385A3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267" y="4791717"/>
            <a:ext cx="26384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Do you think you can find who is ...">
            <a:extLst>
              <a:ext uri="{FF2B5EF4-FFF2-40B4-BE49-F238E27FC236}">
                <a16:creationId xmlns:a16="http://schemas.microsoft.com/office/drawing/2014/main" id="{95BDADEE-52F6-0861-8EC9-C36E73BC4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86" y="4757469"/>
            <a:ext cx="2638425" cy="182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595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63F8-0EDE-F61D-2B65-9EBA4560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of the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7475D-F850-5C6D-CE64-96D9E663E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5146372" cy="3541714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Primary Goals:</a:t>
            </a:r>
            <a:endParaRPr lang="en-IN" dirty="0"/>
          </a:p>
          <a:p>
            <a:r>
              <a:rPr lang="en-IN" dirty="0"/>
              <a:t>Develop ML model with &gt;90% accuracy</a:t>
            </a:r>
          </a:p>
          <a:p>
            <a:r>
              <a:rPr lang="en-IN" dirty="0"/>
              <a:t>Real-time processing (25 FPS, &lt;500ms latency)</a:t>
            </a:r>
          </a:p>
          <a:p>
            <a:r>
              <a:rPr lang="en-IN" dirty="0"/>
              <a:t>Production-ready deployment (100+ concurrent)</a:t>
            </a:r>
          </a:p>
          <a:p>
            <a:r>
              <a:rPr lang="en-IN" dirty="0"/>
              <a:t>Ensure fairness &amp; GDPR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71EE8-EC96-C7B7-F7FA-5126955926AB}"/>
              </a:ext>
            </a:extLst>
          </p:cNvPr>
          <p:cNvSpPr txBox="1"/>
          <p:nvPr/>
        </p:nvSpPr>
        <p:spPr>
          <a:xfrm>
            <a:off x="6606283" y="2097087"/>
            <a:ext cx="4530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Secondary Goals:</a:t>
            </a:r>
          </a:p>
          <a:p>
            <a:endParaRPr lang="en-IN" dirty="0"/>
          </a:p>
          <a:p>
            <a:r>
              <a:rPr lang="en-IN" dirty="0"/>
              <a:t>Compare </a:t>
            </a:r>
            <a:r>
              <a:rPr lang="en-IN" dirty="0" err="1"/>
              <a:t>XGBoost</a:t>
            </a:r>
            <a:r>
              <a:rPr lang="en-IN" dirty="0"/>
              <a:t> vs alternatives</a:t>
            </a:r>
          </a:p>
          <a:p>
            <a:endParaRPr lang="en-IN" dirty="0"/>
          </a:p>
          <a:p>
            <a:r>
              <a:rPr lang="en-IN" dirty="0"/>
              <a:t>Temporal </a:t>
            </a:r>
            <a:r>
              <a:rPr lang="en-IN" dirty="0" err="1"/>
              <a:t>behavior</a:t>
            </a:r>
            <a:r>
              <a:rPr lang="en-IN" dirty="0"/>
              <a:t> analysis</a:t>
            </a:r>
          </a:p>
          <a:p>
            <a:endParaRPr lang="en-IN" dirty="0"/>
          </a:p>
          <a:p>
            <a:r>
              <a:rPr lang="en-IN" dirty="0"/>
              <a:t>Automated report generation</a:t>
            </a:r>
          </a:p>
          <a:p>
            <a:endParaRPr lang="en-IN" dirty="0"/>
          </a:p>
          <a:p>
            <a:r>
              <a:rPr lang="en-IN" dirty="0"/>
              <a:t>Admin dashboard creation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834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CF39-AC87-B8F0-DC19-5D9D4F8C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Scope &amp; Assumptions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7C5CA-DAFE-A121-F615-42EC68B44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What DOES Work:</a:t>
            </a:r>
            <a:br>
              <a:rPr lang="en-IN" dirty="0"/>
            </a:br>
            <a:r>
              <a:rPr lang="en-IN" dirty="0"/>
              <a:t>✅ Face/hand detection</a:t>
            </a:r>
            <a:br>
              <a:rPr lang="en-IN" dirty="0"/>
            </a:br>
            <a:r>
              <a:rPr lang="en-IN" dirty="0"/>
              <a:t>✅ Gaze tracking</a:t>
            </a:r>
            <a:br>
              <a:rPr lang="en-IN" dirty="0"/>
            </a:br>
            <a:r>
              <a:rPr lang="en-IN" dirty="0"/>
              <a:t>✅ Phone detection</a:t>
            </a:r>
            <a:br>
              <a:rPr lang="en-IN" dirty="0"/>
            </a:br>
            <a:r>
              <a:rPr lang="en-IN" dirty="0"/>
              <a:t>✅ Real-time alerts</a:t>
            </a:r>
            <a:br>
              <a:rPr lang="en-IN" dirty="0"/>
            </a:br>
            <a:r>
              <a:rPr lang="en-IN" dirty="0"/>
              <a:t>✅ PDF reports</a:t>
            </a:r>
          </a:p>
          <a:p>
            <a:r>
              <a:rPr lang="en-IN" b="1" dirty="0"/>
              <a:t>What DOESN'T Work:</a:t>
            </a:r>
            <a:br>
              <a:rPr lang="en-IN" dirty="0"/>
            </a:br>
            <a:r>
              <a:rPr lang="en-IN" dirty="0"/>
              <a:t>❌ Answer authenticity verification</a:t>
            </a:r>
            <a:br>
              <a:rPr lang="en-IN" dirty="0"/>
            </a:br>
            <a:r>
              <a:rPr lang="en-IN" dirty="0"/>
              <a:t>❌ Plagiarism detection</a:t>
            </a:r>
            <a:br>
              <a:rPr lang="en-IN" dirty="0"/>
            </a:br>
            <a:r>
              <a:rPr lang="en-IN" dirty="0"/>
              <a:t>❌ Deep psychological reasoning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E5893-A483-FFB4-E62E-F2E6CB96F69E}"/>
              </a:ext>
            </a:extLst>
          </p:cNvPr>
          <p:cNvSpPr txBox="1"/>
          <p:nvPr/>
        </p:nvSpPr>
        <p:spPr>
          <a:xfrm>
            <a:off x="7387119" y="2321960"/>
            <a:ext cx="36602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Assumptions:</a:t>
            </a:r>
          </a:p>
          <a:p>
            <a:endParaRPr lang="en-US" dirty="0"/>
          </a:p>
          <a:p>
            <a:r>
              <a:rPr lang="en-US" dirty="0"/>
              <a:t>Good webcam (720p+)</a:t>
            </a:r>
          </a:p>
          <a:p>
            <a:endParaRPr lang="en-US" dirty="0"/>
          </a:p>
          <a:p>
            <a:r>
              <a:rPr lang="en-US" dirty="0"/>
              <a:t>Adequate lighting (&gt;50 lux)</a:t>
            </a:r>
          </a:p>
          <a:p>
            <a:endParaRPr lang="en-US" dirty="0"/>
          </a:p>
          <a:p>
            <a:r>
              <a:rPr lang="en-US" dirty="0"/>
              <a:t>Stable internet (&gt;2 Mbps)</a:t>
            </a:r>
          </a:p>
          <a:p>
            <a:endParaRPr lang="en-US" dirty="0"/>
          </a:p>
          <a:p>
            <a:r>
              <a:rPr lang="en-US" dirty="0"/>
              <a:t>Cooperative student</a:t>
            </a:r>
          </a:p>
          <a:p>
            <a:endParaRPr lang="en-US" dirty="0"/>
          </a:p>
          <a:p>
            <a:r>
              <a:rPr lang="en-US" dirty="0"/>
              <a:t>Single camera 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26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1C14-A298-1283-CEE6-D2CC6F9F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 Overview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AAF13F-1E11-F197-F88F-06CBBF546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3591" y="1728182"/>
            <a:ext cx="3544584" cy="4703692"/>
          </a:xfrm>
        </p:spPr>
      </p:pic>
      <p:pic>
        <p:nvPicPr>
          <p:cNvPr id="2056" name="Picture 8" descr="10 Ways To Test Your Webcam Before Using It">
            <a:extLst>
              <a:ext uri="{FF2B5EF4-FFF2-40B4-BE49-F238E27FC236}">
                <a16:creationId xmlns:a16="http://schemas.microsoft.com/office/drawing/2014/main" id="{F8E0D337-7E85-2B63-4C7B-870259271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604892"/>
            <a:ext cx="2507876" cy="140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The FUDIPO Project: AI systems in ...">
            <a:extLst>
              <a:ext uri="{FF2B5EF4-FFF2-40B4-BE49-F238E27FC236}">
                <a16:creationId xmlns:a16="http://schemas.microsoft.com/office/drawing/2014/main" id="{AD949C64-06E9-8A78-35CB-BFEC58928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3083462"/>
            <a:ext cx="2507876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Details of Online Exam Dashboard">
            <a:extLst>
              <a:ext uri="{FF2B5EF4-FFF2-40B4-BE49-F238E27FC236}">
                <a16:creationId xmlns:a16="http://schemas.microsoft.com/office/drawing/2014/main" id="{28CEF012-2159-735C-AB59-7B442B31A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605" y="4953304"/>
            <a:ext cx="2507876" cy="147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10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0794-D3F4-01F1-4596-996212FC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Collection &amp; Dataset Description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0B2D0-21C4-6E8F-DFC6-603A06EF1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Students suspicious behaviors detection dataset for AI-powered online exam proctoring</a:t>
            </a:r>
          </a:p>
          <a:p>
            <a:pPr marL="0" indent="0">
              <a:buNone/>
            </a:pPr>
            <a:r>
              <a:rPr lang="en-US" b="1" dirty="0"/>
              <a:t>Total Records:      5,500 </a:t>
            </a:r>
          </a:p>
          <a:p>
            <a:pPr marL="0" indent="0">
              <a:buNone/>
            </a:pPr>
            <a:r>
              <a:rPr lang="en-US" b="1" dirty="0"/>
              <a:t>Features/Record:      38 </a:t>
            </a:r>
          </a:p>
          <a:p>
            <a:pPr marL="0" indent="0">
              <a:buNone/>
            </a:pPr>
            <a:r>
              <a:rPr lang="en-US" b="1" dirty="0"/>
              <a:t>Cheating:             2,619 (47.6%)</a:t>
            </a:r>
          </a:p>
          <a:p>
            <a:pPr marL="0" indent="0">
              <a:buNone/>
            </a:pPr>
            <a:r>
              <a:rPr lang="en-US" b="1" dirty="0"/>
              <a:t>Normal:               2,881 (52.4%)</a:t>
            </a:r>
          </a:p>
          <a:p>
            <a:pPr marL="0" indent="0">
              <a:buNone/>
            </a:pPr>
            <a:r>
              <a:rPr lang="en-US" b="1" dirty="0"/>
              <a:t>Collection Method:    Controlled </a:t>
            </a:r>
            <a:r>
              <a:rPr lang="en-US" b="1" dirty="0" err="1"/>
              <a:t>SimVideo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Resolution:     720p @ 25 FPS</a:t>
            </a:r>
          </a:p>
          <a:p>
            <a:pPr marL="0" indent="0">
              <a:buNone/>
            </a:pPr>
            <a:r>
              <a:rPr lang="en-US" b="1" dirty="0"/>
              <a:t>Annotation:           3 reviewers per frame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CF122-1E92-7A48-3451-367F69143637}"/>
              </a:ext>
            </a:extLst>
          </p:cNvPr>
          <p:cNvSpPr txBox="1"/>
          <p:nvPr/>
        </p:nvSpPr>
        <p:spPr>
          <a:xfrm>
            <a:off x="7027524" y="2743200"/>
            <a:ext cx="42945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38 Features Breakdown:</a:t>
            </a:r>
            <a:endParaRPr lang="en-US" dirty="0"/>
          </a:p>
          <a:p>
            <a:r>
              <a:rPr lang="en-US" dirty="0"/>
              <a:t>Face Detection: 6 features</a:t>
            </a:r>
          </a:p>
          <a:p>
            <a:r>
              <a:rPr lang="en-US" dirty="0"/>
              <a:t>Hand Tracking: 8 features</a:t>
            </a:r>
          </a:p>
          <a:p>
            <a:r>
              <a:rPr lang="en-US" dirty="0"/>
              <a:t>Head Pose: 3 features</a:t>
            </a:r>
          </a:p>
          <a:p>
            <a:r>
              <a:rPr lang="en-US" dirty="0"/>
              <a:t>Gaze Tracking: 6 features</a:t>
            </a:r>
          </a:p>
          <a:p>
            <a:r>
              <a:rPr lang="en-US" dirty="0"/>
              <a:t>Phone Detection: 5 features</a:t>
            </a:r>
          </a:p>
          <a:p>
            <a:r>
              <a:rPr lang="en-US" dirty="0"/>
              <a:t>Body Posture: 2 features</a:t>
            </a:r>
          </a:p>
          <a:p>
            <a:r>
              <a:rPr lang="en-US" dirty="0"/>
              <a:t>Temporal: 2 features</a:t>
            </a:r>
          </a:p>
        </p:txBody>
      </p:sp>
    </p:spTree>
    <p:extLst>
      <p:ext uri="{BB962C8B-B14F-4D97-AF65-F5344CB8AC3E}">
        <p14:creationId xmlns:p14="http://schemas.microsoft.com/office/powerpoint/2010/main" val="216679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FB15-E7C9-F36C-3799-AFE4AE57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Cheating Detection Models</a:t>
            </a:r>
            <a:endParaRPr lang="en-IN" b="1" dirty="0"/>
          </a:p>
        </p:txBody>
      </p:sp>
      <p:pic>
        <p:nvPicPr>
          <p:cNvPr id="4098" name="Picture 2" descr="XGBoost - Wikipedia">
            <a:extLst>
              <a:ext uri="{FF2B5EF4-FFF2-40B4-BE49-F238E27FC236}">
                <a16:creationId xmlns:a16="http://schemas.microsoft.com/office/drawing/2014/main" id="{178A5700-40AE-E9D1-7110-639D48B2A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146" y="1957869"/>
            <a:ext cx="3101459" cy="106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andom Forest In-Depth. This article ...">
            <a:extLst>
              <a:ext uri="{FF2B5EF4-FFF2-40B4-BE49-F238E27FC236}">
                <a16:creationId xmlns:a16="http://schemas.microsoft.com/office/drawing/2014/main" id="{7B7D01DE-5091-2850-850A-B01BEB244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145" y="3181671"/>
            <a:ext cx="3101459" cy="157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C58BDC7-E9BB-1633-985F-580E0D91F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Existed models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Proposed Model</a:t>
            </a:r>
          </a:p>
          <a:p>
            <a:pPr marL="0" indent="0">
              <a:buNone/>
            </a:pPr>
            <a:r>
              <a:rPr lang="en-IN" dirty="0" err="1"/>
              <a:t>XGBoost</a:t>
            </a:r>
            <a:r>
              <a:rPr lang="en-IN" dirty="0"/>
              <a:t>: Maximum performance models.</a:t>
            </a:r>
          </a:p>
        </p:txBody>
      </p:sp>
      <p:pic>
        <p:nvPicPr>
          <p:cNvPr id="17" name="Picture 16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F60C4924-1BFD-01D8-F44D-49FB6E9F9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454" y="2922056"/>
            <a:ext cx="6967324" cy="158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49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59C5-F513-C211-8C97-5C780ADB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Tentative Project Timeline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E8A7-9F13-431F-064A-FFE8A14D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ctr"/>
            <a:r>
              <a:rPr lang="en-US" dirty="0"/>
              <a:t>Tools &amp; environment - 1 day</a:t>
            </a:r>
          </a:p>
          <a:p>
            <a:pPr fontAlgn="ctr"/>
            <a:r>
              <a:rPr lang="en-US" dirty="0"/>
              <a:t>Project design &amp; rules - 2 days</a:t>
            </a:r>
          </a:p>
          <a:p>
            <a:pPr fontAlgn="ctr"/>
            <a:r>
              <a:rPr lang="en-US" dirty="0"/>
              <a:t>Dataset preparation - 2-3 weeks</a:t>
            </a:r>
          </a:p>
          <a:p>
            <a:pPr fontAlgn="ctr"/>
            <a:r>
              <a:rPr lang="en-US" dirty="0"/>
              <a:t>Model Prototype– 10 days</a:t>
            </a:r>
          </a:p>
          <a:p>
            <a:pPr fontAlgn="ctr"/>
            <a:r>
              <a:rPr lang="en-US" dirty="0"/>
              <a:t>Cheating rule engine &amp; scoring - 2 days</a:t>
            </a:r>
          </a:p>
          <a:p>
            <a:pPr fontAlgn="ctr"/>
            <a:r>
              <a:rPr lang="en-US" dirty="0"/>
              <a:t>UI &amp; Integration - 3 days</a:t>
            </a:r>
          </a:p>
          <a:p>
            <a:pPr fontAlgn="ctr"/>
            <a:r>
              <a:rPr lang="en-US" dirty="0"/>
              <a:t>Testing &amp; evaluation - 4 days</a:t>
            </a:r>
          </a:p>
          <a:p>
            <a:pPr fontAlgn="ctr"/>
            <a:r>
              <a:rPr lang="en-US" dirty="0"/>
              <a:t>Documentation, report &amp; presentation - 1 week</a:t>
            </a:r>
          </a:p>
        </p:txBody>
      </p:sp>
    </p:spTree>
    <p:extLst>
      <p:ext uri="{BB962C8B-B14F-4D97-AF65-F5344CB8AC3E}">
        <p14:creationId xmlns:p14="http://schemas.microsoft.com/office/powerpoint/2010/main" val="344611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7446-5919-6D11-243B-9104D99D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26FCDC-5DCA-A80D-2C4A-64C1CCB12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6799" y="1653436"/>
            <a:ext cx="7307975" cy="487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0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5FB2-3879-FAF7-EE72-575A9CC0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</a:t>
            </a:r>
            <a:r>
              <a:rPr lang="en-US" dirty="0"/>
              <a:t> Status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9E3E3-946C-E7B2-A2CA-01C1A31C1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8" y="2097088"/>
            <a:ext cx="12192000" cy="457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6FB4-A8E7-96F7-810D-A1F1D6CF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Status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61395-D57F-B929-2CCC-76D2C66E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1676400"/>
            <a:ext cx="9488488" cy="50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39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E136-66B1-9EAF-BCB3-B06AEAEA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257215-E42B-7700-F3B7-2B714F63E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2400" y="1803400"/>
            <a:ext cx="9119136" cy="45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EBA3-8F7C-688B-2A5A-BBAFC6BD8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and Leftover tasks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2FBC-6487-6233-6443-2FDCF5E0B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dirty="0"/>
              <a:t>Need to Resolve the issue with the </a:t>
            </a:r>
            <a:r>
              <a:rPr lang="en-US" dirty="0" err="1"/>
              <a:t>mediapipe</a:t>
            </a:r>
            <a:r>
              <a:rPr lang="en-US" dirty="0"/>
              <a:t> feature extraction module</a:t>
            </a:r>
          </a:p>
          <a:p>
            <a:pPr marL="457200" indent="-457200">
              <a:buAutoNum type="arabicParenR"/>
            </a:pPr>
            <a:r>
              <a:rPr lang="en-IN" dirty="0"/>
              <a:t>Need to add the model explainability module</a:t>
            </a:r>
          </a:p>
          <a:p>
            <a:pPr marL="457200" indent="-457200">
              <a:buAutoNum type="arabicParenR"/>
            </a:pPr>
            <a:r>
              <a:rPr lang="en-IN" dirty="0"/>
              <a:t>Dataset creation– most tedious task</a:t>
            </a:r>
          </a:p>
          <a:p>
            <a:pPr marL="457200" indent="-457200">
              <a:buAutoNum type="arabicParenR"/>
            </a:pPr>
            <a:r>
              <a:rPr lang="en-IN" dirty="0"/>
              <a:t>Resolve the issues with the model end to end video input pipeline.</a:t>
            </a:r>
          </a:p>
        </p:txBody>
      </p:sp>
    </p:spTree>
    <p:extLst>
      <p:ext uri="{BB962C8B-B14F-4D97-AF65-F5344CB8AC3E}">
        <p14:creationId xmlns:p14="http://schemas.microsoft.com/office/powerpoint/2010/main" val="205824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CD05-ACEF-31FD-96DE-994535B2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Potential Bottlenecks, Challenges &amp; System Limitations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77A6-0DC1-B3FA-B8CA-6BE7AD75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Need diverse and Large Datasets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IN" dirty="0"/>
              <a:t>The model is resolution dependent</a:t>
            </a:r>
          </a:p>
          <a:p>
            <a:endParaRPr lang="en-IN" dirty="0"/>
          </a:p>
          <a:p>
            <a:r>
              <a:rPr lang="en-IN" dirty="0"/>
              <a:t>No Audio Detection Module.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62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DE6D-14C1-2B85-983B-020F2AE5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34560"/>
            <a:ext cx="9905998" cy="1478570"/>
          </a:xfrm>
        </p:spPr>
        <p:txBody>
          <a:bodyPr/>
          <a:lstStyle/>
          <a:p>
            <a:r>
              <a:rPr lang="en-US" b="1" dirty="0"/>
              <a:t>Conclusion &amp; Future 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1104-B77C-A1D9-524A-3657E8A77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approach integrates the face detection, eye gaze and mobile presence.</a:t>
            </a:r>
          </a:p>
          <a:p>
            <a:r>
              <a:rPr lang="en-US" dirty="0"/>
              <a:t>Future extensions:</a:t>
            </a:r>
          </a:p>
          <a:p>
            <a:r>
              <a:rPr lang="en-US" dirty="0"/>
              <a:t>Audio-based cheating detection</a:t>
            </a:r>
            <a:endParaRPr lang="en-IN" dirty="0"/>
          </a:p>
          <a:p>
            <a:r>
              <a:rPr lang="en-IN" dirty="0"/>
              <a:t>Multi-Modal fraud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73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382</TotalTime>
  <Words>478</Words>
  <Application>Microsoft Office PowerPoint</Application>
  <PresentationFormat>Widescreen</PresentationFormat>
  <Paragraphs>113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Circuit</vt:lpstr>
      <vt:lpstr>AI-Based  Fraud Detection System for online Proctored  Exam </vt:lpstr>
      <vt:lpstr>Outline</vt:lpstr>
      <vt:lpstr>Introduction and problem statement</vt:lpstr>
      <vt:lpstr>Objectives of the System</vt:lpstr>
      <vt:lpstr>Scope &amp; Assumptions</vt:lpstr>
      <vt:lpstr>Proposed Solution Overview</vt:lpstr>
      <vt:lpstr>Data Collection &amp; Dataset Description</vt:lpstr>
      <vt:lpstr>Cheating Detection Models</vt:lpstr>
      <vt:lpstr>Tentative Project Timeline</vt:lpstr>
      <vt:lpstr>Pipeline</vt:lpstr>
      <vt:lpstr>WorK Status</vt:lpstr>
      <vt:lpstr>Work Status</vt:lpstr>
      <vt:lpstr>Output results</vt:lpstr>
      <vt:lpstr>Issues and Leftover tasks</vt:lpstr>
      <vt:lpstr>Potential Bottlenecks, Challenges &amp; System Limitations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Tharun Vuttipally</dc:creator>
  <cp:lastModifiedBy>Tharun Vuttipally</cp:lastModifiedBy>
  <cp:revision>19</cp:revision>
  <dcterms:created xsi:type="dcterms:W3CDTF">2025-12-14T08:54:25Z</dcterms:created>
  <dcterms:modified xsi:type="dcterms:W3CDTF">2026-01-12T16:27:49Z</dcterms:modified>
</cp:coreProperties>
</file>